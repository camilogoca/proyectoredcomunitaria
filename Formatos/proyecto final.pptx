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6" r:id="rId2"/>
    <p:sldId id="262" r:id="rId3"/>
    <p:sldId id="317" r:id="rId4"/>
    <p:sldId id="318" r:id="rId5"/>
    <p:sldId id="324" r:id="rId6"/>
    <p:sldId id="326" r:id="rId7"/>
    <p:sldId id="325" r:id="rId8"/>
    <p:sldId id="320" r:id="rId9"/>
    <p:sldId id="321" r:id="rId10"/>
    <p:sldId id="323" r:id="rId11"/>
  </p:sldIdLst>
  <p:sldSz cx="12192000" cy="6858000"/>
  <p:notesSz cx="6858000" cy="9144000"/>
  <p:custDataLst>
    <p:tags r:id="rId12"/>
  </p:custData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8EF1"/>
    <a:srgbClr val="009579"/>
    <a:srgbClr val="5FDFB4"/>
    <a:srgbClr val="CDF5E8"/>
    <a:srgbClr val="590A06"/>
    <a:srgbClr val="40382D"/>
    <a:srgbClr val="F2F2F2"/>
    <a:srgbClr val="FFD9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0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F30684-B671-47AB-8B5D-CC76F9558207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1F1A3AC-D00A-4620-860D-ABD1EBE697C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CO" sz="1300" noProof="0" dirty="0"/>
            <a:t>Este proyecto busca desarrollar una plataforma web orientada a la gestión y visualización de datos sobre emprendimiento e innovación en diferentes comunidades.</a:t>
          </a:r>
          <a:br>
            <a:rPr lang="es-CO" sz="1300" noProof="0" dirty="0"/>
          </a:br>
          <a:r>
            <a:rPr lang="es-CO" sz="1300" noProof="0" dirty="0"/>
            <a:t>A través de esta plataforma, se busca facilitar el acceso a información relevante, como estadísticas y análisis de los diferentes emprendimientos en distintas regiones, promoviendo la colaboración entre emprendedores, inversores y otras partes interesadas.</a:t>
          </a:r>
        </a:p>
      </dgm:t>
    </dgm:pt>
    <dgm:pt modelId="{CC559361-69AA-4325-AE5C-191086B95132}" type="parTrans" cxnId="{CD7505DE-5496-41CD-BF7E-CFB4EB0ED037}">
      <dgm:prSet/>
      <dgm:spPr/>
      <dgm:t>
        <a:bodyPr/>
        <a:lstStyle/>
        <a:p>
          <a:endParaRPr lang="en-US"/>
        </a:p>
      </dgm:t>
    </dgm:pt>
    <dgm:pt modelId="{0053B47A-8EB4-48DD-9231-4839028B3255}" type="sibTrans" cxnId="{CD7505DE-5496-41CD-BF7E-CFB4EB0ED03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8E9CB55-64E1-4748-B3B9-FB0ACBE6A35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CO" sz="1300" noProof="0" dirty="0"/>
            <a:t>El sistema proporciona herramientas para realizar consultas personalizadas y visualizar los resultados mediante gráficos interactivos, lo que permite a los usuarios obtener una visión clara sobre la evolución y los patrones de emprendimiento y la innovación en el contexto local. Se implementan funcionalidades como el cálculo de porcentajes por región, análisis históricos, y mucho más, con el fin de facilitar la toma de decisiones y fortalecer el ecosistema emprendedor.</a:t>
          </a:r>
        </a:p>
      </dgm:t>
    </dgm:pt>
    <dgm:pt modelId="{2A30A18E-E628-457B-88DD-7C6335A984FB}" type="parTrans" cxnId="{9CE85E7E-EACD-47EE-A541-DDF58E266C89}">
      <dgm:prSet/>
      <dgm:spPr/>
      <dgm:t>
        <a:bodyPr/>
        <a:lstStyle/>
        <a:p>
          <a:endParaRPr lang="en-US"/>
        </a:p>
      </dgm:t>
    </dgm:pt>
    <dgm:pt modelId="{E9241C05-32C9-4905-81C8-8C3340FFAA0B}" type="sibTrans" cxnId="{9CE85E7E-EACD-47EE-A541-DDF58E266C89}">
      <dgm:prSet/>
      <dgm:spPr/>
      <dgm:t>
        <a:bodyPr/>
        <a:lstStyle/>
        <a:p>
          <a:endParaRPr lang="en-US"/>
        </a:p>
      </dgm:t>
    </dgm:pt>
    <dgm:pt modelId="{72228D63-1E81-4044-AB2A-7065F4A05509}" type="pres">
      <dgm:prSet presAssocID="{E7F30684-B671-47AB-8B5D-CC76F9558207}" presName="root" presStyleCnt="0">
        <dgm:presLayoutVars>
          <dgm:dir/>
          <dgm:resizeHandles val="exact"/>
        </dgm:presLayoutVars>
      </dgm:prSet>
      <dgm:spPr/>
    </dgm:pt>
    <dgm:pt modelId="{04C95354-6B8E-4818-BD07-9494C2293DFD}" type="pres">
      <dgm:prSet presAssocID="{E7F30684-B671-47AB-8B5D-CC76F9558207}" presName="container" presStyleCnt="0">
        <dgm:presLayoutVars>
          <dgm:dir/>
          <dgm:resizeHandles val="exact"/>
        </dgm:presLayoutVars>
      </dgm:prSet>
      <dgm:spPr/>
    </dgm:pt>
    <dgm:pt modelId="{A0B134D8-685D-41CD-AD4E-E8E93F46CCED}" type="pres">
      <dgm:prSet presAssocID="{41F1A3AC-D00A-4620-860D-ABD1EBE697CD}" presName="compNode" presStyleCnt="0"/>
      <dgm:spPr/>
    </dgm:pt>
    <dgm:pt modelId="{55614EAC-9C3F-400F-96D0-6D733ACC8C02}" type="pres">
      <dgm:prSet presAssocID="{41F1A3AC-D00A-4620-860D-ABD1EBE697CD}" presName="iconBgRect" presStyleLbl="bgShp" presStyleIdx="0" presStyleCnt="2"/>
      <dgm:spPr/>
    </dgm:pt>
    <dgm:pt modelId="{6DC9B142-6A71-4DDA-910A-E480F466E9B4}" type="pres">
      <dgm:prSet presAssocID="{41F1A3AC-D00A-4620-860D-ABD1EBE697C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488EE5DC-63A3-4156-B82B-4A1B6D382390}" type="pres">
      <dgm:prSet presAssocID="{41F1A3AC-D00A-4620-860D-ABD1EBE697CD}" presName="spaceRect" presStyleCnt="0"/>
      <dgm:spPr/>
    </dgm:pt>
    <dgm:pt modelId="{969A8CAC-05EF-4B94-83FF-C21D91D66BE2}" type="pres">
      <dgm:prSet presAssocID="{41F1A3AC-D00A-4620-860D-ABD1EBE697CD}" presName="textRect" presStyleLbl="revTx" presStyleIdx="0" presStyleCnt="2">
        <dgm:presLayoutVars>
          <dgm:chMax val="1"/>
          <dgm:chPref val="1"/>
        </dgm:presLayoutVars>
      </dgm:prSet>
      <dgm:spPr/>
    </dgm:pt>
    <dgm:pt modelId="{26B89A4B-D88A-401B-B5BA-989935C6CB3A}" type="pres">
      <dgm:prSet presAssocID="{0053B47A-8EB4-48DD-9231-4839028B3255}" presName="sibTrans" presStyleLbl="sibTrans2D1" presStyleIdx="0" presStyleCnt="0"/>
      <dgm:spPr/>
    </dgm:pt>
    <dgm:pt modelId="{A547F747-860B-48B0-81D8-8FD6B6443ED4}" type="pres">
      <dgm:prSet presAssocID="{D8E9CB55-64E1-4748-B3B9-FB0ACBE6A351}" presName="compNode" presStyleCnt="0"/>
      <dgm:spPr/>
    </dgm:pt>
    <dgm:pt modelId="{643F3AE6-9407-43AE-8313-E265CD159AFA}" type="pres">
      <dgm:prSet presAssocID="{D8E9CB55-64E1-4748-B3B9-FB0ACBE6A351}" presName="iconBgRect" presStyleLbl="bgShp" presStyleIdx="1" presStyleCnt="2"/>
      <dgm:spPr/>
    </dgm:pt>
    <dgm:pt modelId="{00E35236-6A02-4E07-B327-13DC5E9D9948}" type="pres">
      <dgm:prSet presAssocID="{D8E9CB55-64E1-4748-B3B9-FB0ACBE6A35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1BBA499-2633-474D-83CF-21192DF6EC87}" type="pres">
      <dgm:prSet presAssocID="{D8E9CB55-64E1-4748-B3B9-FB0ACBE6A351}" presName="spaceRect" presStyleCnt="0"/>
      <dgm:spPr/>
    </dgm:pt>
    <dgm:pt modelId="{FC7B28A0-3E3D-44B8-B1C8-11029201D64C}" type="pres">
      <dgm:prSet presAssocID="{D8E9CB55-64E1-4748-B3B9-FB0ACBE6A35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678F236-F412-42AA-97F1-4BC9F36D92CA}" type="presOf" srcId="{0053B47A-8EB4-48DD-9231-4839028B3255}" destId="{26B89A4B-D88A-401B-B5BA-989935C6CB3A}" srcOrd="0" destOrd="0" presId="urn:microsoft.com/office/officeart/2018/2/layout/IconCircleList"/>
    <dgm:cxn modelId="{6D25034B-A840-431E-A767-56FBF1644FA8}" type="presOf" srcId="{E7F30684-B671-47AB-8B5D-CC76F9558207}" destId="{72228D63-1E81-4044-AB2A-7065F4A05509}" srcOrd="0" destOrd="0" presId="urn:microsoft.com/office/officeart/2018/2/layout/IconCircleList"/>
    <dgm:cxn modelId="{BE1ED075-FA39-49F0-847F-FE73767C674D}" type="presOf" srcId="{41F1A3AC-D00A-4620-860D-ABD1EBE697CD}" destId="{969A8CAC-05EF-4B94-83FF-C21D91D66BE2}" srcOrd="0" destOrd="0" presId="urn:microsoft.com/office/officeart/2018/2/layout/IconCircleList"/>
    <dgm:cxn modelId="{9CE85E7E-EACD-47EE-A541-DDF58E266C89}" srcId="{E7F30684-B671-47AB-8B5D-CC76F9558207}" destId="{D8E9CB55-64E1-4748-B3B9-FB0ACBE6A351}" srcOrd="1" destOrd="0" parTransId="{2A30A18E-E628-457B-88DD-7C6335A984FB}" sibTransId="{E9241C05-32C9-4905-81C8-8C3340FFAA0B}"/>
    <dgm:cxn modelId="{77D8C4A4-F8A8-40CA-9B6E-90DB755D25B4}" type="presOf" srcId="{D8E9CB55-64E1-4748-B3B9-FB0ACBE6A351}" destId="{FC7B28A0-3E3D-44B8-B1C8-11029201D64C}" srcOrd="0" destOrd="0" presId="urn:microsoft.com/office/officeart/2018/2/layout/IconCircleList"/>
    <dgm:cxn modelId="{CD7505DE-5496-41CD-BF7E-CFB4EB0ED037}" srcId="{E7F30684-B671-47AB-8B5D-CC76F9558207}" destId="{41F1A3AC-D00A-4620-860D-ABD1EBE697CD}" srcOrd="0" destOrd="0" parTransId="{CC559361-69AA-4325-AE5C-191086B95132}" sibTransId="{0053B47A-8EB4-48DD-9231-4839028B3255}"/>
    <dgm:cxn modelId="{04A14BD5-9993-4638-A520-B88ECE2B5229}" type="presParOf" srcId="{72228D63-1E81-4044-AB2A-7065F4A05509}" destId="{04C95354-6B8E-4818-BD07-9494C2293DFD}" srcOrd="0" destOrd="0" presId="urn:microsoft.com/office/officeart/2018/2/layout/IconCircleList"/>
    <dgm:cxn modelId="{583BA1C0-2347-4E9A-AC24-AB0F58BB58EC}" type="presParOf" srcId="{04C95354-6B8E-4818-BD07-9494C2293DFD}" destId="{A0B134D8-685D-41CD-AD4E-E8E93F46CCED}" srcOrd="0" destOrd="0" presId="urn:microsoft.com/office/officeart/2018/2/layout/IconCircleList"/>
    <dgm:cxn modelId="{73ED119C-1611-4571-9A21-D306AD2D87E9}" type="presParOf" srcId="{A0B134D8-685D-41CD-AD4E-E8E93F46CCED}" destId="{55614EAC-9C3F-400F-96D0-6D733ACC8C02}" srcOrd="0" destOrd="0" presId="urn:microsoft.com/office/officeart/2018/2/layout/IconCircleList"/>
    <dgm:cxn modelId="{1373D838-CBBC-4ED0-AE1D-A1DD11044D23}" type="presParOf" srcId="{A0B134D8-685D-41CD-AD4E-E8E93F46CCED}" destId="{6DC9B142-6A71-4DDA-910A-E480F466E9B4}" srcOrd="1" destOrd="0" presId="urn:microsoft.com/office/officeart/2018/2/layout/IconCircleList"/>
    <dgm:cxn modelId="{DF6444D0-A599-465A-88ED-C710B94D308E}" type="presParOf" srcId="{A0B134D8-685D-41CD-AD4E-E8E93F46CCED}" destId="{488EE5DC-63A3-4156-B82B-4A1B6D382390}" srcOrd="2" destOrd="0" presId="urn:microsoft.com/office/officeart/2018/2/layout/IconCircleList"/>
    <dgm:cxn modelId="{41EF558C-4A9A-4611-AB86-21F2D3E64E6F}" type="presParOf" srcId="{A0B134D8-685D-41CD-AD4E-E8E93F46CCED}" destId="{969A8CAC-05EF-4B94-83FF-C21D91D66BE2}" srcOrd="3" destOrd="0" presId="urn:microsoft.com/office/officeart/2018/2/layout/IconCircleList"/>
    <dgm:cxn modelId="{3340A5EA-F9D7-4AF6-AAF0-D6267087D3BC}" type="presParOf" srcId="{04C95354-6B8E-4818-BD07-9494C2293DFD}" destId="{26B89A4B-D88A-401B-B5BA-989935C6CB3A}" srcOrd="1" destOrd="0" presId="urn:microsoft.com/office/officeart/2018/2/layout/IconCircleList"/>
    <dgm:cxn modelId="{0CA84031-77ED-45F7-92F8-82125A21CDB6}" type="presParOf" srcId="{04C95354-6B8E-4818-BD07-9494C2293DFD}" destId="{A547F747-860B-48B0-81D8-8FD6B6443ED4}" srcOrd="2" destOrd="0" presId="urn:microsoft.com/office/officeart/2018/2/layout/IconCircleList"/>
    <dgm:cxn modelId="{E015C40D-7D6F-4DD0-A9DC-964C14CE6A81}" type="presParOf" srcId="{A547F747-860B-48B0-81D8-8FD6B6443ED4}" destId="{643F3AE6-9407-43AE-8313-E265CD159AFA}" srcOrd="0" destOrd="0" presId="urn:microsoft.com/office/officeart/2018/2/layout/IconCircleList"/>
    <dgm:cxn modelId="{912090E3-ADBA-4BB2-B8A8-C06FB26CD4E7}" type="presParOf" srcId="{A547F747-860B-48B0-81D8-8FD6B6443ED4}" destId="{00E35236-6A02-4E07-B327-13DC5E9D9948}" srcOrd="1" destOrd="0" presId="urn:microsoft.com/office/officeart/2018/2/layout/IconCircleList"/>
    <dgm:cxn modelId="{54FEADD1-A15F-41BA-81FE-D4B6D58D7AA2}" type="presParOf" srcId="{A547F747-860B-48B0-81D8-8FD6B6443ED4}" destId="{21BBA499-2633-474D-83CF-21192DF6EC87}" srcOrd="2" destOrd="0" presId="urn:microsoft.com/office/officeart/2018/2/layout/IconCircleList"/>
    <dgm:cxn modelId="{141926D3-5C33-4FD4-B1DF-42561411AAAF}" type="presParOf" srcId="{A547F747-860B-48B0-81D8-8FD6B6443ED4}" destId="{FC7B28A0-3E3D-44B8-B1C8-11029201D64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614EAC-9C3F-400F-96D0-6D733ACC8C02}">
      <dsp:nvSpPr>
        <dsp:cNvPr id="0" name=""/>
        <dsp:cNvSpPr/>
      </dsp:nvSpPr>
      <dsp:spPr>
        <a:xfrm>
          <a:off x="69139" y="1202644"/>
          <a:ext cx="826364" cy="82636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C9B142-6A71-4DDA-910A-E480F466E9B4}">
      <dsp:nvSpPr>
        <dsp:cNvPr id="0" name=""/>
        <dsp:cNvSpPr/>
      </dsp:nvSpPr>
      <dsp:spPr>
        <a:xfrm>
          <a:off x="242675" y="1376181"/>
          <a:ext cx="479291" cy="4792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9A8CAC-05EF-4B94-83FF-C21D91D66BE2}">
      <dsp:nvSpPr>
        <dsp:cNvPr id="0" name=""/>
        <dsp:cNvSpPr/>
      </dsp:nvSpPr>
      <dsp:spPr>
        <a:xfrm>
          <a:off x="1072582" y="1202644"/>
          <a:ext cx="1947860" cy="826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/>
            <a:t>Este proyecto busca desarrollar una plataforma web orientada a la gestión y visualización de datos sobre emprendimiento e innovación en diferentes comunidades.</a:t>
          </a:r>
          <a:br>
            <a:rPr lang="es-CO" sz="1300" kern="1200" noProof="0" dirty="0"/>
          </a:br>
          <a:r>
            <a:rPr lang="es-CO" sz="1300" kern="1200" noProof="0" dirty="0"/>
            <a:t>A través de esta plataforma, se busca facilitar el acceso a información relevante, como estadísticas y análisis de los diferentes emprendimientos en distintas regiones, promoviendo la colaboración entre emprendedores, inversores y otras partes interesadas.</a:t>
          </a:r>
        </a:p>
      </dsp:txBody>
      <dsp:txXfrm>
        <a:off x="1072582" y="1202644"/>
        <a:ext cx="1947860" cy="826364"/>
      </dsp:txXfrm>
    </dsp:sp>
    <dsp:sp modelId="{643F3AE6-9407-43AE-8313-E265CD159AFA}">
      <dsp:nvSpPr>
        <dsp:cNvPr id="0" name=""/>
        <dsp:cNvSpPr/>
      </dsp:nvSpPr>
      <dsp:spPr>
        <a:xfrm>
          <a:off x="3359842" y="1202644"/>
          <a:ext cx="826364" cy="82636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E35236-6A02-4E07-B327-13DC5E9D9948}">
      <dsp:nvSpPr>
        <dsp:cNvPr id="0" name=""/>
        <dsp:cNvSpPr/>
      </dsp:nvSpPr>
      <dsp:spPr>
        <a:xfrm>
          <a:off x="3533379" y="1376181"/>
          <a:ext cx="479291" cy="4792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7B28A0-3E3D-44B8-B1C8-11029201D64C}">
      <dsp:nvSpPr>
        <dsp:cNvPr id="0" name=""/>
        <dsp:cNvSpPr/>
      </dsp:nvSpPr>
      <dsp:spPr>
        <a:xfrm>
          <a:off x="4363285" y="1202644"/>
          <a:ext cx="1947860" cy="826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/>
            <a:t>El sistema proporciona herramientas para realizar consultas personalizadas y visualizar los resultados mediante gráficos interactivos, lo que permite a los usuarios obtener una visión clara sobre la evolución y los patrones de emprendimiento y la innovación en el contexto local. Se implementan funcionalidades como el cálculo de porcentajes por región, análisis históricos, y mucho más, con el fin de facilitar la toma de decisiones y fortalecer el ecosistema emprendedor.</a:t>
          </a:r>
        </a:p>
      </dsp:txBody>
      <dsp:txXfrm>
        <a:off x="4363285" y="1202644"/>
        <a:ext cx="1947860" cy="8263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6867FC-A8DE-BEB7-2309-ADCA07866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85DAD0-4459-FE55-CECB-B90C12D2C4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93660F-B513-D89E-3576-4B88D2721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571D67-05D4-40F3-A596-B31971CA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F4F99C-EC70-5C40-C5B7-8479F75E2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173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C71948-1D70-C81A-D90B-6F5DD40F0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83B3FA-BF34-9B88-F7A2-2664CC15F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7BB04C-53D9-2240-EFBB-03E5B4168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E6789C-BF46-2BBB-306A-AA8A16DB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072ED8-D00A-CE94-25F5-8515F3C92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3037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BDF99-07FE-98E0-669A-06E2C48D0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3847A3-4ACC-0908-790B-8E5C10CA9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C98C58-1CBC-EF20-F770-D885D5902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18368C-D8B9-6D4B-57A6-21EA11D21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26A211-29B6-2EA7-7785-143598371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6801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22BBB-57E9-CC00-168E-0EDCF713B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C986D1-489A-F637-C584-85EE0DD2C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6C9512-AB68-C18C-97AE-C94FF97A2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EC1403-2C43-9EFA-9859-FEBA222EA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79F71A-5E48-5A6D-32BC-AA984216C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6642BCC-FC6F-7D4F-1548-44F4FAEA1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347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AA3E8A-6392-4937-1B6B-B6408F43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8097CE-196A-CA0F-7949-C689C4672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97850D-DDCE-2B8F-F886-A925AFA06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AA7365-B339-74BB-17AC-78D1AFE735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E086C7C-18AD-222A-2EFF-AB30D9A066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152AEE7-79F3-5DD2-FA9C-EB2EAB3C7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9EF79DD-AEEE-F5CE-F2A2-AD118116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32CD2A8-BD40-A64D-FB29-42D2CB50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7809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DAC91-67EB-D444-D6C1-509B11711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D35F173-A537-CFA8-9CEB-A70EAE646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32DB93C-BC82-4122-1972-F06E5C8F2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BAC77BA-0944-742F-1582-328DC6079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30123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45E1C4-6174-26B8-BD5E-BDCBAB7CE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734D51A-9FE0-73DC-339A-AB18F8D0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A08305-8078-E9A9-D645-512AA096B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0852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10F01-81DB-FAF2-7A28-667941AD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F57EBD-4DFF-A354-AD9C-CB83FD6D9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AC9778-1481-3414-D966-DDD4D4B41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A95F97-3D1A-4B0E-66FA-E1C4BC1EC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3523B4-6940-4754-AC34-96F68AB4D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44A464-A5F8-2727-FE7E-191C9CA95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3818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EAEC7B-5DB1-3211-18A0-E7F4FE887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0BB9676-7850-63F3-E0CB-42C9EA4C03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87C856-D660-42A4-4801-BC1AD05CE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30EE0A-E498-7145-6A6F-ED94302B6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B442C6-A743-8656-79F3-DCC6EE339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FBB10F-38A0-1C19-8034-6EAE8B25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175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1A361-5C18-6498-3353-2DF4A4261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BA6CAE-87E8-2B95-49CD-67B2AB65F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A343DC-D5DB-68F0-A3CB-6E8DF0D83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18F4E6-EE01-42E3-D654-75BA15C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697BF0-7C74-0A8B-B7EC-276F993A7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6275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2FC3F77-EBFF-9CDA-9940-B87F4A539F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15511C0-2287-DE9F-400B-A7DCE2D5E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5E7372-80DE-6BC0-682F-AB54EF25C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680DEB-D5A7-76F3-4FC9-A79BF92BE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7CD804-5A3C-6594-22F8-941FECCB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0495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5869A09-FEF3-311C-B2BB-C81FA0F2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B04212-FCC9-4856-E626-1607418AD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2E3369-AC7F-096E-2AA8-DA9FB14B64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7AFBE-F2C4-4925-8955-5790DBA5559D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0568B0-646E-830F-43E3-53B516B50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ACDB0F-BB48-6B49-1F03-D4CC8E046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310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4.jpg"/><Relationship Id="rId7" Type="http://schemas.openxmlformats.org/officeDocument/2006/relationships/diagramQuickStyle" Target="../diagrams/quickStyl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5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FD7D6-C94B-33A0-66D5-1708A5CE8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women looking at a computer&#10;&#10;Description automatically generated">
            <a:extLst>
              <a:ext uri="{FF2B5EF4-FFF2-40B4-BE49-F238E27FC236}">
                <a16:creationId xmlns:a16="http://schemas.microsoft.com/office/drawing/2014/main" id="{FD60101D-D15C-8B23-546F-489FF7B89C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CCCE5D-B55F-9AED-DADC-103BB5E5180E}"/>
              </a:ext>
            </a:extLst>
          </p:cNvPr>
          <p:cNvSpPr txBox="1"/>
          <p:nvPr/>
        </p:nvSpPr>
        <p:spPr>
          <a:xfrm>
            <a:off x="893435" y="1523943"/>
            <a:ext cx="49423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noProof="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Proyecto final del curso de Programación </a:t>
            </a:r>
          </a:p>
          <a:p>
            <a:r>
              <a:rPr lang="es-CO" sz="2000" noProof="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Nivel Integrador.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E64793-6608-8EE6-0E92-288652D6CA7A}"/>
              </a:ext>
            </a:extLst>
          </p:cNvPr>
          <p:cNvSpPr txBox="1"/>
          <p:nvPr/>
        </p:nvSpPr>
        <p:spPr>
          <a:xfrm>
            <a:off x="893435" y="3605944"/>
            <a:ext cx="4335057" cy="17095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6000">
              <a:lnSpc>
                <a:spcPct val="150000"/>
              </a:lnSpc>
            </a:pPr>
            <a:r>
              <a:rPr lang="es-CO" b="1" noProof="0" dirty="0">
                <a:solidFill>
                  <a:schemeClr val="bg1"/>
                </a:solidFill>
              </a:rPr>
              <a:t>Plataforma web para gestionar, visualizar y consultar datos sobre emprendimientos e innovaciones, promoviendo la colaboración y facilitando el acceso a información clave</a:t>
            </a:r>
            <a:endParaRPr lang="es-CO" b="1" noProof="0" dirty="0">
              <a:solidFill>
                <a:schemeClr val="bg1"/>
              </a:solidFill>
              <a:latin typeface="Arial" panose="020B0604020202020204" pitchFamily="34" charset="0"/>
              <a:ea typeface="Roboto Black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B972161-FC61-E64E-5DBE-DC87A05D35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3435" y="3429000"/>
            <a:ext cx="2715709" cy="457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E9174A-FF5A-E63E-004B-437E1EA7F83A}"/>
              </a:ext>
            </a:extLst>
          </p:cNvPr>
          <p:cNvSpPr txBox="1"/>
          <p:nvPr/>
        </p:nvSpPr>
        <p:spPr>
          <a:xfrm>
            <a:off x="893435" y="2844225"/>
            <a:ext cx="620796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CO" sz="3200" b="1" noProof="0" dirty="0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Red Comunitaria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6282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FC2DA7B-E466-2533-7FD0-4C7517D22C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CB02B3E-CA97-4862-D109-DC7622B7334E}"/>
              </a:ext>
            </a:extLst>
          </p:cNvPr>
          <p:cNvSpPr txBox="1"/>
          <p:nvPr/>
        </p:nvSpPr>
        <p:spPr>
          <a:xfrm>
            <a:off x="2782958" y="529647"/>
            <a:ext cx="60946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000" b="1" noProof="0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Introducción</a:t>
            </a:r>
            <a:endParaRPr lang="es-CO" sz="2000" noProof="0" dirty="0">
              <a:solidFill>
                <a:srgbClr val="A08EF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8CBBE1A-3BA1-4CAA-957F-4AE1F849190C}"/>
              </a:ext>
            </a:extLst>
          </p:cNvPr>
          <p:cNvSpPr txBox="1"/>
          <p:nvPr/>
        </p:nvSpPr>
        <p:spPr>
          <a:xfrm>
            <a:off x="3477716" y="1009914"/>
            <a:ext cx="47051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b="1" noProof="0" dirty="0">
                <a:latin typeface="Arial" panose="020B0604020202020204" pitchFamily="34" charset="0"/>
                <a:cs typeface="Arial" panose="020B0604020202020204" pitchFamily="34" charset="0"/>
              </a:rPr>
              <a:t>Red Comunitaria</a:t>
            </a:r>
          </a:p>
        </p:txBody>
      </p:sp>
      <p:sp>
        <p:nvSpPr>
          <p:cNvPr id="7" name="AutoShape 2" descr="blob:https://web.whatsapp.com/2578f76a-eea3-4093-b34f-bfe0bc27529e">
            <a:extLst>
              <a:ext uri="{FF2B5EF4-FFF2-40B4-BE49-F238E27FC236}">
                <a16:creationId xmlns:a16="http://schemas.microsoft.com/office/drawing/2014/main" id="{BB22C221-0C52-4C9A-8E8F-87480518D9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7200" y="300956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noProof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9AEF7F8-5830-5C3C-82D6-48A7A57258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95"/>
          <a:stretch>
            <a:fillRect/>
          </a:stretch>
        </p:blipFill>
        <p:spPr bwMode="auto">
          <a:xfrm>
            <a:off x="6962990" y="1428626"/>
            <a:ext cx="4360657" cy="410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28" name="CuadroTexto 3">
            <a:extLst>
              <a:ext uri="{FF2B5EF4-FFF2-40B4-BE49-F238E27FC236}">
                <a16:creationId xmlns:a16="http://schemas.microsoft.com/office/drawing/2014/main" id="{874D732C-4747-1778-8F89-024B7A9082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8084117"/>
              </p:ext>
            </p:extLst>
          </p:nvPr>
        </p:nvGraphicFramePr>
        <p:xfrm>
          <a:off x="426915" y="2026923"/>
          <a:ext cx="6380285" cy="3231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034352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AF2DF-DA57-93DB-D07B-980B5319D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35C4E73-6F6E-88B7-D1DC-C91A1B5975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9F64620-9646-EA2C-621A-216D586FE649}"/>
              </a:ext>
            </a:extLst>
          </p:cNvPr>
          <p:cNvSpPr txBox="1"/>
          <p:nvPr/>
        </p:nvSpPr>
        <p:spPr>
          <a:xfrm>
            <a:off x="3048681" y="279791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800" b="1" noProof="0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Planteamiento del problema</a:t>
            </a:r>
            <a:endParaRPr lang="es-CO" noProof="0" dirty="0">
              <a:solidFill>
                <a:srgbClr val="A08EF1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495E785-D743-4C03-886C-B7101DEA91D5}"/>
              </a:ext>
            </a:extLst>
          </p:cNvPr>
          <p:cNvSpPr/>
          <p:nvPr/>
        </p:nvSpPr>
        <p:spPr>
          <a:xfrm>
            <a:off x="779585" y="1270306"/>
            <a:ext cx="280767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noProof="0" dirty="0">
                <a:latin typeface="Arial" panose="020B0604020202020204" pitchFamily="34" charset="0"/>
                <a:cs typeface="Arial" panose="020B0604020202020204" pitchFamily="34" charset="0"/>
              </a:rPr>
              <a:t>Problema: </a:t>
            </a:r>
            <a:r>
              <a:rPr lang="es-CO" noProof="0" dirty="0"/>
              <a:t>Emprendedores enfrentan dificultades para acceder a información crucial sobre el tipo de emprendimiento predominante en su región y las oportunidades de innovación.</a:t>
            </a:r>
            <a:endParaRPr lang="es-CO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7C2296D-18A9-4775-AD87-5A5CA0D5AB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51"/>
          <a:stretch>
            <a:fillRect/>
          </a:stretch>
        </p:blipFill>
        <p:spPr>
          <a:xfrm>
            <a:off x="3453782" y="1398250"/>
            <a:ext cx="4728927" cy="4061499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409B34FE-8A38-429C-8FD6-189E13438910}"/>
              </a:ext>
            </a:extLst>
          </p:cNvPr>
          <p:cNvSpPr/>
          <p:nvPr/>
        </p:nvSpPr>
        <p:spPr>
          <a:xfrm>
            <a:off x="7932508" y="4567989"/>
            <a:ext cx="394749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b="1" noProof="0" dirty="0">
                <a:latin typeface="Arial" panose="020B0604020202020204" pitchFamily="34" charset="0"/>
                <a:cs typeface="Arial" panose="020B0604020202020204" pitchFamily="34" charset="0"/>
              </a:rPr>
              <a:t>Solución: </a:t>
            </a:r>
            <a:r>
              <a:rPr lang="es-CO" noProof="0" dirty="0"/>
              <a:t>Plataforma que centraliza y facilita el acceso a estos datos, promoviendo la colaboración entre emprendedores y otras organizaciones.</a:t>
            </a:r>
            <a:r>
              <a:rPr lang="es-CO" b="1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618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EFE67-4F5E-0909-9C28-EB473BE9A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4E1B251-CEDE-72F4-F613-FF70BF87AC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C1E3DBD-1757-E5D1-BE51-98E58E6B8425}"/>
              </a:ext>
            </a:extLst>
          </p:cNvPr>
          <p:cNvSpPr txBox="1"/>
          <p:nvPr/>
        </p:nvSpPr>
        <p:spPr>
          <a:xfrm>
            <a:off x="3048681" y="241691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800" b="1" noProof="0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objetivo general y objetivos específicos </a:t>
            </a:r>
            <a:endParaRPr lang="es-CO" noProof="0" dirty="0">
              <a:solidFill>
                <a:srgbClr val="A08EF1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A1F9C05-67DF-4FCF-8D01-040D27CD3B1F}"/>
              </a:ext>
            </a:extLst>
          </p:cNvPr>
          <p:cNvSpPr/>
          <p:nvPr/>
        </p:nvSpPr>
        <p:spPr>
          <a:xfrm>
            <a:off x="6313341" y="113813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b="1" noProof="0" dirty="0">
                <a:latin typeface="Arial" panose="020B0604020202020204" pitchFamily="34" charset="0"/>
                <a:cs typeface="Arial" panose="020B0604020202020204" pitchFamily="34" charset="0"/>
              </a:rPr>
              <a:t>Objetivos específicos</a:t>
            </a:r>
            <a:endParaRPr lang="es-CO" sz="1000" b="1" noProof="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1897B3D-C775-45C6-AEB1-562DED70509C}"/>
              </a:ext>
            </a:extLst>
          </p:cNvPr>
          <p:cNvSpPr/>
          <p:nvPr/>
        </p:nvSpPr>
        <p:spPr>
          <a:xfrm>
            <a:off x="234462" y="1138139"/>
            <a:ext cx="438443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noProof="0" dirty="0">
                <a:latin typeface="Arial" panose="020B0604020202020204" pitchFamily="34" charset="0"/>
                <a:cs typeface="Arial" panose="020B0604020202020204" pitchFamily="34" charset="0"/>
              </a:rPr>
              <a:t>Objetivo general:</a:t>
            </a:r>
            <a:br>
              <a:rPr lang="es-CO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O" noProof="0" dirty="0"/>
              <a:t>Desarrollar una aplicación web que permita visualizar y gestionar datos sobre emprendimiento e innovación, facilitando el acceso a información relevante y fomentando la colaboración en comunidades locales, con énfasis en Colombia.</a:t>
            </a:r>
            <a:endParaRPr lang="es-CO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00BA9E7-7FDC-1A43-1FD6-FC54A7612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10" b="13810"/>
          <a:stretch/>
        </p:blipFill>
        <p:spPr bwMode="auto">
          <a:xfrm>
            <a:off x="3912529" y="1876510"/>
            <a:ext cx="7559897" cy="4247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29013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DF7E3-1F7A-9FE6-D34A-D95B41F14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7A1E75E-436A-014C-D18A-2EF768E1B8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BA07E89-665C-42E6-611B-8E700666C87C}"/>
              </a:ext>
            </a:extLst>
          </p:cNvPr>
          <p:cNvSpPr txBox="1"/>
          <p:nvPr/>
        </p:nvSpPr>
        <p:spPr>
          <a:xfrm>
            <a:off x="4142834" y="390183"/>
            <a:ext cx="27190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Tecnologías utilizadas </a:t>
            </a:r>
            <a:endParaRPr lang="es-CO" dirty="0">
              <a:solidFill>
                <a:srgbClr val="A08EF1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7023EF9-8729-6C49-66D7-F13EE09488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3"/>
          <a:stretch>
            <a:fillRect/>
          </a:stretch>
        </p:blipFill>
        <p:spPr bwMode="auto">
          <a:xfrm>
            <a:off x="3001449" y="919537"/>
            <a:ext cx="5110580" cy="5018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37E7225-C70D-AAC3-8538-C6F9F5DE2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0984" y="5566693"/>
            <a:ext cx="1524213" cy="3620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7243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A509A-953B-E7FB-314D-30D579D99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51E5A349-FE7C-CCD9-420C-474BA11B39C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33D9C2C-FDD0-DC5F-9CC9-FCBE53D7D39D}"/>
              </a:ext>
            </a:extLst>
          </p:cNvPr>
          <p:cNvSpPr txBox="1"/>
          <p:nvPr/>
        </p:nvSpPr>
        <p:spPr>
          <a:xfrm>
            <a:off x="4944017" y="374553"/>
            <a:ext cx="27190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Metodología  </a:t>
            </a:r>
            <a:endParaRPr lang="es-CO" dirty="0">
              <a:solidFill>
                <a:srgbClr val="A08EF1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83FDEDA-6281-5B7C-CAEA-C1A902CB6F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1" t="3964" r="2127" b="8696"/>
          <a:stretch>
            <a:fillRect/>
          </a:stretch>
        </p:blipFill>
        <p:spPr bwMode="auto">
          <a:xfrm>
            <a:off x="2157046" y="1013604"/>
            <a:ext cx="7260492" cy="4830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37B3F6F-4AE7-2220-96D9-145F8CA636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0984" y="5566693"/>
            <a:ext cx="1524213" cy="3620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60775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F2CB6-3D8A-CFDB-6CE0-B05123066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613D0B6-8EA3-320A-A50F-27E8C3ADD2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01A6C75-77D6-C62D-9825-21D0B7154A7E}"/>
              </a:ext>
            </a:extLst>
          </p:cNvPr>
          <p:cNvSpPr txBox="1"/>
          <p:nvPr/>
        </p:nvSpPr>
        <p:spPr>
          <a:xfrm>
            <a:off x="4142834" y="390183"/>
            <a:ext cx="3492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Diagrama ERD del proyecto </a:t>
            </a:r>
            <a:endParaRPr lang="es-CO" dirty="0">
              <a:solidFill>
                <a:srgbClr val="A08EF1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9769967-627A-8266-9478-76C7640DF8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" t="5280" r="-425" b="1243"/>
          <a:stretch>
            <a:fillRect/>
          </a:stretch>
        </p:blipFill>
        <p:spPr bwMode="auto">
          <a:xfrm>
            <a:off x="1871785" y="759514"/>
            <a:ext cx="7635630" cy="5414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200FCA4-2540-389B-A819-43552E554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0984" y="5566693"/>
            <a:ext cx="1524213" cy="3620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70335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B80B5-2D50-D588-FF85-222A1584F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DF00DD1-178D-79C7-2D5A-88370873C5D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7825AD2-7E66-AF76-EDDC-F3A503436B7A}"/>
              </a:ext>
            </a:extLst>
          </p:cNvPr>
          <p:cNvSpPr txBox="1"/>
          <p:nvPr/>
        </p:nvSpPr>
        <p:spPr>
          <a:xfrm>
            <a:off x="4025872" y="518167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Funcionalidades del sistema</a:t>
            </a:r>
            <a:endParaRPr lang="es-CO" noProof="0" dirty="0">
              <a:solidFill>
                <a:srgbClr val="A08EF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38C31EF-13A1-4603-BEE5-51DEB4801A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64" b="8585"/>
          <a:stretch>
            <a:fillRect/>
          </a:stretch>
        </p:blipFill>
        <p:spPr>
          <a:xfrm>
            <a:off x="2071489" y="1563077"/>
            <a:ext cx="8049021" cy="43140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6359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1C4EF-A4A0-3131-700D-7965270C0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3EA17F8-F3F4-B2AE-7386-DB54197F58E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DEF252C-A8DC-BFEC-56E3-730216CC02B6}"/>
              </a:ext>
            </a:extLst>
          </p:cNvPr>
          <p:cNvSpPr txBox="1"/>
          <p:nvPr/>
        </p:nvSpPr>
        <p:spPr>
          <a:xfrm>
            <a:off x="3048681" y="246497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800" b="1" noProof="0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Consultas SQL implementadas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46FAB28-F278-B651-B555-F554D0237B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96" b="9995"/>
          <a:stretch>
            <a:fillRect/>
          </a:stretch>
        </p:blipFill>
        <p:spPr bwMode="auto">
          <a:xfrm>
            <a:off x="2438401" y="1062893"/>
            <a:ext cx="6563650" cy="4970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80864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D9266-94D4-E379-CC47-59C0B75CC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0B13922-F6E0-B8A9-3ADB-96175AA124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989C9C0-A9B9-E8DC-0C20-51067E8AB9C8}"/>
              </a:ext>
            </a:extLst>
          </p:cNvPr>
          <p:cNvSpPr txBox="1"/>
          <p:nvPr/>
        </p:nvSpPr>
        <p:spPr>
          <a:xfrm>
            <a:off x="430528" y="2905780"/>
            <a:ext cx="3047319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4400" b="1" noProof="0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GRACIAS</a:t>
            </a:r>
            <a:endParaRPr lang="es-CO" sz="1800" b="1" noProof="0" dirty="0">
              <a:solidFill>
                <a:srgbClr val="A08EF1"/>
              </a:solidFill>
              <a:latin typeface="Arial" panose="020B0604020202020204" pitchFamily="34" charset="0"/>
              <a:ea typeface="Roboto Black" panose="02000000000000000000" pitchFamily="2" charset="0"/>
              <a:cs typeface="Arial" panose="020B0604020202020204" pitchFamily="34" charset="0"/>
            </a:endParaRPr>
          </a:p>
          <a:p>
            <a:pPr algn="ctr"/>
            <a:endParaRPr lang="es-CO" noProof="0" dirty="0">
              <a:solidFill>
                <a:srgbClr val="A08EF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15755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Tema de Office">
  <a:themeElements>
    <a:clrScheme name="LINDO LINDO">
      <a:dk1>
        <a:sysClr val="windowText" lastClr="000000"/>
      </a:dk1>
      <a:lt1>
        <a:sysClr val="window" lastClr="FFFFFF"/>
      </a:lt1>
      <a:dk2>
        <a:srgbClr val="142F50"/>
      </a:dk2>
      <a:lt2>
        <a:srgbClr val="F9F8F3"/>
      </a:lt2>
      <a:accent1>
        <a:srgbClr val="38A4D4"/>
      </a:accent1>
      <a:accent2>
        <a:srgbClr val="F6F25C"/>
      </a:accent2>
      <a:accent3>
        <a:srgbClr val="FCA810"/>
      </a:accent3>
      <a:accent4>
        <a:srgbClr val="EF255F"/>
      </a:accent4>
      <a:accent5>
        <a:srgbClr val="22B183"/>
      </a:accent5>
      <a:accent6>
        <a:srgbClr val="8C54B6"/>
      </a:accent6>
      <a:hlink>
        <a:srgbClr val="39BCD2"/>
      </a:hlink>
      <a:folHlink>
        <a:srgbClr val="8963A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2953</TotalTime>
  <Words>285</Words>
  <Application>Microsoft Office PowerPoint</Application>
  <PresentationFormat>Panorámica</PresentationFormat>
  <Paragraphs>20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INTRODUCTORIO SEMANA 1</dc:title>
  <dc:creator>Ana Maria Salazar</dc:creator>
  <cp:lastModifiedBy>Yhonatan camilo Gomez camacho</cp:lastModifiedBy>
  <cp:revision>56</cp:revision>
  <dcterms:created xsi:type="dcterms:W3CDTF">2024-01-29T20:34:43Z</dcterms:created>
  <dcterms:modified xsi:type="dcterms:W3CDTF">2026-03-13T02:13:37Z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D82F9886-3FD5-42EB-B509-1BFBAE8A1A25</vt:lpwstr>
  </property>
  <property fmtid="{D5CDD505-2E9C-101B-9397-08002B2CF9AE}" pid="3" name="ArticulatePath">
    <vt:lpwstr>Semana1_Videoclase_empaquesyembalajes_V3_David</vt:lpwstr>
  </property>
  <property fmtid="{D5CDD505-2E9C-101B-9397-08002B2CF9AE}" pid="4" name="MSIP_Label_fc111285-cafa-4fc9-8a9a-bd902089b24f_Enabled">
    <vt:lpwstr>true</vt:lpwstr>
  </property>
  <property fmtid="{D5CDD505-2E9C-101B-9397-08002B2CF9AE}" pid="5" name="MSIP_Label_fc111285-cafa-4fc9-8a9a-bd902089b24f_SetDate">
    <vt:lpwstr>2025-07-01T13:05:37Z</vt:lpwstr>
  </property>
  <property fmtid="{D5CDD505-2E9C-101B-9397-08002B2CF9AE}" pid="6" name="MSIP_Label_fc111285-cafa-4fc9-8a9a-bd902089b24f_Method">
    <vt:lpwstr>Privileged</vt:lpwstr>
  </property>
  <property fmtid="{D5CDD505-2E9C-101B-9397-08002B2CF9AE}" pid="7" name="MSIP_Label_fc111285-cafa-4fc9-8a9a-bd902089b24f_Name">
    <vt:lpwstr>Public</vt:lpwstr>
  </property>
  <property fmtid="{D5CDD505-2E9C-101B-9397-08002B2CF9AE}" pid="8" name="MSIP_Label_fc111285-cafa-4fc9-8a9a-bd902089b24f_SiteId">
    <vt:lpwstr>cbc2c381-2f2e-4d93-91d1-506c9316ace7</vt:lpwstr>
  </property>
  <property fmtid="{D5CDD505-2E9C-101B-9397-08002B2CF9AE}" pid="9" name="MSIP_Label_fc111285-cafa-4fc9-8a9a-bd902089b24f_ActionId">
    <vt:lpwstr>73fd4af2-d571-43c2-b053-cba03ebf9672</vt:lpwstr>
  </property>
  <property fmtid="{D5CDD505-2E9C-101B-9397-08002B2CF9AE}" pid="10" name="MSIP_Label_fc111285-cafa-4fc9-8a9a-bd902089b24f_ContentBits">
    <vt:lpwstr>0</vt:lpwstr>
  </property>
  <property fmtid="{D5CDD505-2E9C-101B-9397-08002B2CF9AE}" pid="11" name="MSIP_Label_fc111285-cafa-4fc9-8a9a-bd902089b24f_Tag">
    <vt:lpwstr>10, 0, 1, 1</vt:lpwstr>
  </property>
</Properties>
</file>